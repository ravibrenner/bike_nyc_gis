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0" r:id="rId1"/>
  </p:sldMasterIdLst>
  <p:notesMasterIdLst>
    <p:notesMasterId r:id="rId3"/>
  </p:notesMasterIdLst>
  <p:handoutMasterIdLst>
    <p:handoutMasterId r:id="rId4"/>
  </p:handoutMasterIdLst>
  <p:sldIdLst>
    <p:sldId id="258" r:id="rId2"/>
  </p:sldIdLst>
  <p:sldSz cx="21945600" cy="32918400"/>
  <p:notesSz cx="7004050" cy="929005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69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60" autoAdjust="0"/>
    <p:restoredTop sz="94676" autoAdjust="0"/>
  </p:normalViewPr>
  <p:slideViewPr>
    <p:cSldViewPr>
      <p:cViewPr>
        <p:scale>
          <a:sx n="87" d="100"/>
          <a:sy n="87" d="100"/>
        </p:scale>
        <p:origin x="-584" y="-4224"/>
      </p:cViewPr>
      <p:guideLst>
        <p:guide orient="horz" pos="10368"/>
        <p:guide pos="691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8" d="100"/>
          <a:sy n="68" d="100"/>
        </p:scale>
        <p:origin x="2459" y="2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6A881E9-DDBD-9D1C-848C-759B711ACD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5300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086DF2-AFEC-8DC9-77E3-0A3E7457C4E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67163" y="0"/>
            <a:ext cx="3035300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2B582C-2CC0-4B80-AE07-643F9FF6B0D2}" type="datetimeFigureOut">
              <a:rPr lang="en-US" smtClean="0"/>
              <a:t>11/16/25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499CEB-E1B3-0C8D-E8A1-27E44131A52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4913"/>
            <a:ext cx="3035300" cy="4651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7780A0-AD31-48EA-0C0F-D862DB7D54B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67163" y="8824913"/>
            <a:ext cx="3035300" cy="4651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866389-E12E-498D-AE08-0C073E9C1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797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5300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67163" y="0"/>
            <a:ext cx="3035300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FF3B7B-C834-4806-85FF-593E379045A3}" type="datetimeFigureOut">
              <a:rPr lang="en-US" smtClean="0"/>
              <a:t>11/16/25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57450" y="1162050"/>
            <a:ext cx="2089150" cy="3135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0088" y="4470400"/>
            <a:ext cx="5603875" cy="36591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4913"/>
            <a:ext cx="3035300" cy="4651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67163" y="8824913"/>
            <a:ext cx="3035300" cy="4651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986CFD-E46D-4BB1-8F7D-995ADD39C2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41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1FC7A-9EB0-CA1B-B450-7CA922C3C1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0" y="5387342"/>
            <a:ext cx="16459200" cy="11460480"/>
          </a:xfrm>
        </p:spPr>
        <p:txBody>
          <a:bodyPr anchor="b"/>
          <a:lstStyle>
            <a:lvl1pPr algn="ctr">
              <a:defRPr sz="10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EBDDC6-A990-DDAE-B055-E5D88DBB10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43200" y="17289782"/>
            <a:ext cx="16459200" cy="7947658"/>
          </a:xfrm>
        </p:spPr>
        <p:txBody>
          <a:bodyPr/>
          <a:lstStyle>
            <a:lvl1pPr marL="0" indent="0" algn="ctr">
              <a:buNone/>
              <a:defRPr sz="4320"/>
            </a:lvl1pPr>
            <a:lvl2pPr marL="822960" indent="0" algn="ctr">
              <a:buNone/>
              <a:defRPr sz="3600"/>
            </a:lvl2pPr>
            <a:lvl3pPr marL="1645920" indent="0" algn="ctr">
              <a:buNone/>
              <a:defRPr sz="3240"/>
            </a:lvl3pPr>
            <a:lvl4pPr marL="2468880" indent="0" algn="ctr">
              <a:buNone/>
              <a:defRPr sz="2880"/>
            </a:lvl4pPr>
            <a:lvl5pPr marL="3291840" indent="0" algn="ctr">
              <a:buNone/>
              <a:defRPr sz="2880"/>
            </a:lvl5pPr>
            <a:lvl6pPr marL="4114800" indent="0" algn="ctr">
              <a:buNone/>
              <a:defRPr sz="2880"/>
            </a:lvl6pPr>
            <a:lvl7pPr marL="4937760" indent="0" algn="ctr">
              <a:buNone/>
              <a:defRPr sz="2880"/>
            </a:lvl7pPr>
            <a:lvl8pPr marL="5760720" indent="0" algn="ctr">
              <a:buNone/>
              <a:defRPr sz="2880"/>
            </a:lvl8pPr>
            <a:lvl9pPr marL="6583680" indent="0" algn="ctr">
              <a:buNone/>
              <a:defRPr sz="28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312AC-69B7-05B1-8F57-0DBCD528D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E926D9-6A49-8731-D911-565261A53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D43BD-EA47-9F69-1230-E60C099E9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175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41069-190F-F659-FB8C-F0E5F4141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CB971-2C86-CCB5-B703-F301C92BD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AA8F9B-3145-8072-9D0E-C8F8DCA79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1FE344-66D7-C1D9-A1F0-2969E1C97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90AD41-0FA2-8A54-48AD-9501F1E25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145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8C666-4B06-6FA5-BDA9-7A2992469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7330" y="8206745"/>
            <a:ext cx="18928080" cy="13693138"/>
          </a:xfrm>
        </p:spPr>
        <p:txBody>
          <a:bodyPr anchor="b"/>
          <a:lstStyle>
            <a:lvl1pPr>
              <a:defRPr sz="10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E467B9-77F9-35F2-EA12-72FC3AD1D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97330" y="22029425"/>
            <a:ext cx="18928080" cy="7200898"/>
          </a:xfrm>
        </p:spPr>
        <p:txBody>
          <a:bodyPr/>
          <a:lstStyle>
            <a:lvl1pPr marL="0" indent="0">
              <a:buNone/>
              <a:defRPr sz="4320">
                <a:solidFill>
                  <a:schemeClr val="tx1">
                    <a:tint val="75000"/>
                  </a:schemeClr>
                </a:solidFill>
              </a:defRPr>
            </a:lvl1pPr>
            <a:lvl2pPr marL="82296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2pPr>
            <a:lvl3pPr marL="1645920" indent="0">
              <a:buNone/>
              <a:defRPr sz="3240">
                <a:solidFill>
                  <a:schemeClr val="tx1">
                    <a:tint val="75000"/>
                  </a:schemeClr>
                </a:solidFill>
              </a:defRPr>
            </a:lvl3pPr>
            <a:lvl4pPr marL="246888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4pPr>
            <a:lvl5pPr marL="329184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5pPr>
            <a:lvl6pPr marL="411480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6pPr>
            <a:lvl7pPr marL="493776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7pPr>
            <a:lvl8pPr marL="576072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8pPr>
            <a:lvl9pPr marL="658368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88AC8-D26A-E159-C43F-C0B1DEDAE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065DD-882F-01C6-B953-9BAB68F5D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401F3-CFE0-55C4-A450-73FFC97FB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869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4A0AB-517B-576C-1736-075D9512C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CA60E6-F1D2-58F1-8E0E-AB686658DE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087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5386BA-74AC-A7EE-B2F3-076DA3A28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099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32943-3531-5C81-144F-D8BFB883B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53A694-75B0-7EB9-BD9B-4F2AB0B29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C3D1C-3405-65C1-6B4F-839D96D3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2015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4AE5B-034D-74EB-330F-378940F8E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618" y="1752603"/>
            <a:ext cx="1892808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CE378C-A110-7444-9407-0836D51DA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1619" y="8069582"/>
            <a:ext cx="9284017" cy="3954778"/>
          </a:xfrm>
        </p:spPr>
        <p:txBody>
          <a:bodyPr anchor="b"/>
          <a:lstStyle>
            <a:lvl1pPr marL="0" indent="0">
              <a:buNone/>
              <a:defRPr sz="4320" b="1"/>
            </a:lvl1pPr>
            <a:lvl2pPr marL="822960" indent="0">
              <a:buNone/>
              <a:defRPr sz="3600" b="1"/>
            </a:lvl2pPr>
            <a:lvl3pPr marL="1645920" indent="0">
              <a:buNone/>
              <a:defRPr sz="3240" b="1"/>
            </a:lvl3pPr>
            <a:lvl4pPr marL="2468880" indent="0">
              <a:buNone/>
              <a:defRPr sz="2880" b="1"/>
            </a:lvl4pPr>
            <a:lvl5pPr marL="3291840" indent="0">
              <a:buNone/>
              <a:defRPr sz="2880" b="1"/>
            </a:lvl5pPr>
            <a:lvl6pPr marL="4114800" indent="0">
              <a:buNone/>
              <a:defRPr sz="2880" b="1"/>
            </a:lvl6pPr>
            <a:lvl7pPr marL="4937760" indent="0">
              <a:buNone/>
              <a:defRPr sz="2880" b="1"/>
            </a:lvl7pPr>
            <a:lvl8pPr marL="5760720" indent="0">
              <a:buNone/>
              <a:defRPr sz="2880" b="1"/>
            </a:lvl8pPr>
            <a:lvl9pPr marL="6583680" indent="0">
              <a:buNone/>
              <a:defRPr sz="2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FD40F0-2B37-223C-BFE2-81AD57ECD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11619" y="12024360"/>
            <a:ext cx="928401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352C54-19E0-9AF1-C5F6-F2289AAB01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1109960" y="8069582"/>
            <a:ext cx="9329738" cy="3954778"/>
          </a:xfrm>
        </p:spPr>
        <p:txBody>
          <a:bodyPr anchor="b"/>
          <a:lstStyle>
            <a:lvl1pPr marL="0" indent="0">
              <a:buNone/>
              <a:defRPr sz="4320" b="1"/>
            </a:lvl1pPr>
            <a:lvl2pPr marL="822960" indent="0">
              <a:buNone/>
              <a:defRPr sz="3600" b="1"/>
            </a:lvl2pPr>
            <a:lvl3pPr marL="1645920" indent="0">
              <a:buNone/>
              <a:defRPr sz="3240" b="1"/>
            </a:lvl3pPr>
            <a:lvl4pPr marL="2468880" indent="0">
              <a:buNone/>
              <a:defRPr sz="2880" b="1"/>
            </a:lvl4pPr>
            <a:lvl5pPr marL="3291840" indent="0">
              <a:buNone/>
              <a:defRPr sz="2880" b="1"/>
            </a:lvl5pPr>
            <a:lvl6pPr marL="4114800" indent="0">
              <a:buNone/>
              <a:defRPr sz="2880" b="1"/>
            </a:lvl6pPr>
            <a:lvl7pPr marL="4937760" indent="0">
              <a:buNone/>
              <a:defRPr sz="2880" b="1"/>
            </a:lvl7pPr>
            <a:lvl8pPr marL="5760720" indent="0">
              <a:buNone/>
              <a:defRPr sz="2880" b="1"/>
            </a:lvl8pPr>
            <a:lvl9pPr marL="6583680" indent="0">
              <a:buNone/>
              <a:defRPr sz="2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0DBE3D-A38F-5A05-D7C1-3F690BD2F9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1109960" y="12024360"/>
            <a:ext cx="9329738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EB34E7-2BBF-7E66-7A3D-C43DBCB88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D00E59-FE7D-DF26-3E01-35F37647D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7D0A20-8A5E-5EA7-6093-B0281D4F7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23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D0344-4F83-F90B-AC70-BC4917BA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B42929-9546-627F-21D2-6218D8AB9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E616E9-42B4-A18E-27D6-CFC066428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8327D6-44A6-75A2-3968-252F65284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889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D2BAA0-8B00-9D1A-E0CF-3ADA79CE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34FFDB-D905-27EB-76D1-AB33FAE4C1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3284A-EFF3-5C98-83FE-125DFE331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4373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4E1BF-966E-4A5D-5782-FAE1C30D4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57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B145D-C8E0-3FA6-4092-524571291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29738" y="4739642"/>
            <a:ext cx="11109960" cy="23393400"/>
          </a:xfrm>
        </p:spPr>
        <p:txBody>
          <a:bodyPr/>
          <a:lstStyle>
            <a:lvl1pPr>
              <a:defRPr sz="5760"/>
            </a:lvl1pPr>
            <a:lvl2pPr>
              <a:defRPr sz="5040"/>
            </a:lvl2pPr>
            <a:lvl3pPr>
              <a:defRPr sz="4320"/>
            </a:lvl3pPr>
            <a:lvl4pPr>
              <a:defRPr sz="3600"/>
            </a:lvl4pPr>
            <a:lvl5pPr>
              <a:defRPr sz="3600"/>
            </a:lvl5pPr>
            <a:lvl6pPr>
              <a:defRPr sz="3600"/>
            </a:lvl6pPr>
            <a:lvl7pPr>
              <a:defRPr sz="3600"/>
            </a:lvl7pPr>
            <a:lvl8pPr>
              <a:defRPr sz="3600"/>
            </a:lvl8pPr>
            <a:lvl9pPr>
              <a:defRPr sz="3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A16FB4-90B6-4929-3B89-61E8681F1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2880"/>
            </a:lvl1pPr>
            <a:lvl2pPr marL="822960" indent="0">
              <a:buNone/>
              <a:defRPr sz="2520"/>
            </a:lvl2pPr>
            <a:lvl3pPr marL="1645920" indent="0">
              <a:buNone/>
              <a:defRPr sz="2160"/>
            </a:lvl3pPr>
            <a:lvl4pPr marL="2468880" indent="0">
              <a:buNone/>
              <a:defRPr sz="1800"/>
            </a:lvl4pPr>
            <a:lvl5pPr marL="3291840" indent="0">
              <a:buNone/>
              <a:defRPr sz="1800"/>
            </a:lvl5pPr>
            <a:lvl6pPr marL="4114800" indent="0">
              <a:buNone/>
              <a:defRPr sz="1800"/>
            </a:lvl6pPr>
            <a:lvl7pPr marL="4937760" indent="0">
              <a:buNone/>
              <a:defRPr sz="1800"/>
            </a:lvl7pPr>
            <a:lvl8pPr marL="5760720" indent="0">
              <a:buNone/>
              <a:defRPr sz="1800"/>
            </a:lvl8pPr>
            <a:lvl9pPr marL="6583680" indent="0">
              <a:buNone/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2103C7-6A17-09F1-4581-248CCCA8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FDA74D-C207-DB6F-4F19-5976AE83B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ECF0C-DCE0-34E4-9345-9D8A390E7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3682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7D6D5-BBC2-67EB-DD71-A700F16E4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57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4B1D25-9735-110C-8CA8-ADAB7DF482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29738" y="4739642"/>
            <a:ext cx="11109960" cy="23393400"/>
          </a:xfrm>
        </p:spPr>
        <p:txBody>
          <a:bodyPr/>
          <a:lstStyle>
            <a:lvl1pPr marL="0" indent="0">
              <a:buNone/>
              <a:defRPr sz="5760"/>
            </a:lvl1pPr>
            <a:lvl2pPr marL="822960" indent="0">
              <a:buNone/>
              <a:defRPr sz="5040"/>
            </a:lvl2pPr>
            <a:lvl3pPr marL="1645920" indent="0">
              <a:buNone/>
              <a:defRPr sz="4320"/>
            </a:lvl3pPr>
            <a:lvl4pPr marL="2468880" indent="0">
              <a:buNone/>
              <a:defRPr sz="3600"/>
            </a:lvl4pPr>
            <a:lvl5pPr marL="3291840" indent="0">
              <a:buNone/>
              <a:defRPr sz="3600"/>
            </a:lvl5pPr>
            <a:lvl6pPr marL="4114800" indent="0">
              <a:buNone/>
              <a:defRPr sz="3600"/>
            </a:lvl6pPr>
            <a:lvl7pPr marL="4937760" indent="0">
              <a:buNone/>
              <a:defRPr sz="3600"/>
            </a:lvl7pPr>
            <a:lvl8pPr marL="5760720" indent="0">
              <a:buNone/>
              <a:defRPr sz="3600"/>
            </a:lvl8pPr>
            <a:lvl9pPr marL="6583680" indent="0">
              <a:buNone/>
              <a:defRPr sz="3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53269E-83F7-CCDD-8AB5-3163B03D1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2880"/>
            </a:lvl1pPr>
            <a:lvl2pPr marL="822960" indent="0">
              <a:buNone/>
              <a:defRPr sz="2520"/>
            </a:lvl2pPr>
            <a:lvl3pPr marL="1645920" indent="0">
              <a:buNone/>
              <a:defRPr sz="2160"/>
            </a:lvl3pPr>
            <a:lvl4pPr marL="2468880" indent="0">
              <a:buNone/>
              <a:defRPr sz="1800"/>
            </a:lvl4pPr>
            <a:lvl5pPr marL="3291840" indent="0">
              <a:buNone/>
              <a:defRPr sz="1800"/>
            </a:lvl5pPr>
            <a:lvl6pPr marL="4114800" indent="0">
              <a:buNone/>
              <a:defRPr sz="1800"/>
            </a:lvl6pPr>
            <a:lvl7pPr marL="4937760" indent="0">
              <a:buNone/>
              <a:defRPr sz="1800"/>
            </a:lvl7pPr>
            <a:lvl8pPr marL="5760720" indent="0">
              <a:buNone/>
              <a:defRPr sz="1800"/>
            </a:lvl8pPr>
            <a:lvl9pPr marL="6583680" indent="0">
              <a:buNone/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7EEFDF-4B4C-C222-F8EC-BDC4AB13E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E93FEE-4B81-D1CA-2EE6-36DA1A39D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1839-B865-C2E1-D27E-FA1F8EF39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644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E9CC7-3CCA-4853-E81D-4C48A67AB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7EB8B3-00AA-32F2-233A-8A7AE5EAF6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EE5C1-6305-25FC-B40A-186CC0D03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7CC02-8947-C07A-694E-551D4EBB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2DD83-8238-4E84-F3DD-B10C7C52E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525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7B08E4-CF14-163E-3888-FBE311B1D4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5704820" y="1752600"/>
            <a:ext cx="473202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65F160-AE55-3CEC-A48D-3620DD64DB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08760" y="1752600"/>
            <a:ext cx="1392174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2CE6B6-271E-C0C5-F3FC-5F91978A5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DA62A-CA72-B89C-9615-3225DC2CA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B26B84-6BE3-1CED-A15A-D31F74970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5798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21518880" y="0"/>
            <a:ext cx="426720" cy="329184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endParaRPr lang="en-US" sz="6400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-1" y="0"/>
            <a:ext cx="426720" cy="329184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endParaRPr lang="en-US" sz="6400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0" y="0"/>
            <a:ext cx="21945600" cy="41148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endParaRPr lang="en-US" sz="6400" dirty="0"/>
          </a:p>
        </p:txBody>
      </p:sp>
      <p:sp>
        <p:nvSpPr>
          <p:cNvPr id="18" name="Rectangle 17"/>
          <p:cNvSpPr/>
          <p:nvPr userDrawn="1"/>
        </p:nvSpPr>
        <p:spPr>
          <a:xfrm>
            <a:off x="0" y="28803600"/>
            <a:ext cx="21945600" cy="41148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endParaRPr lang="en-US" sz="6400" dirty="0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1" y="32613600"/>
            <a:ext cx="3531623" cy="18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32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527CD6-FE6C-4D99-6902-B9F2DE0DA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0" y="1752603"/>
            <a:ext cx="189280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52F58E-8567-A49A-B00C-7DE56D2074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08760" y="8763000"/>
            <a:ext cx="189280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1A31C-4B81-8B99-928F-0255173132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08760" y="30510482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D6BDF-9D0E-4E2B-85B8-D8F4790360C9}" type="datetimeFigureOut">
              <a:rPr lang="en-US" smtClean="0"/>
              <a:t>11/16/25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EC778-4A6A-1A2A-C9CD-C334DC7AFB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69480" y="30510482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23738-A860-614A-D1A3-8ACAFDBE95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499080" y="30510482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878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  <p:sldLayoutId id="2147483752" r:id="rId12"/>
  </p:sldLayoutIdLst>
  <p:txStyles>
    <p:titleStyle>
      <a:lvl1pPr algn="l" defTabSz="1645920" rtl="0" eaLnBrk="1" latinLnBrk="0" hangingPunct="1">
        <a:lnSpc>
          <a:spcPct val="90000"/>
        </a:lnSpc>
        <a:spcBef>
          <a:spcPct val="0"/>
        </a:spcBef>
        <a:buNone/>
        <a:defRPr sz="79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11480" indent="-411480" algn="l" defTabSz="164592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1pPr>
      <a:lvl2pPr marL="123444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05740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88036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4pPr>
      <a:lvl5pPr marL="370332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5pPr>
      <a:lvl6pPr marL="452628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6pPr>
      <a:lvl7pPr marL="534924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7pPr>
      <a:lvl8pPr marL="617220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8pPr>
      <a:lvl9pPr marL="6995160" indent="-411480" algn="l" defTabSz="164592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32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2pPr>
      <a:lvl3pPr marL="164592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3pPr>
      <a:lvl4pPr marL="246888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5pPr>
      <a:lvl6pPr marL="411480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6pPr>
      <a:lvl7pPr marL="493776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7pPr>
      <a:lvl8pPr marL="576072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8pPr>
      <a:lvl9pPr marL="6583680" algn="l" defTabSz="1645920" rtl="0" eaLnBrk="1" latinLnBrk="0" hangingPunct="1">
        <a:defRPr sz="32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22"/>
          <p:cNvSpPr txBox="1">
            <a:spLocks noChangeArrowheads="1"/>
          </p:cNvSpPr>
          <p:nvPr/>
        </p:nvSpPr>
        <p:spPr bwMode="auto">
          <a:xfrm>
            <a:off x="0" y="39588"/>
            <a:ext cx="21945600" cy="27237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37137" tIns="342842" rIns="137137" bIns="342842" anchor="ctr" anchorCtr="0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6600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Bike Lanes and Bike Collisions by Community District in New York City, 2024</a:t>
            </a:r>
          </a:p>
        </p:txBody>
      </p:sp>
      <p:sp>
        <p:nvSpPr>
          <p:cNvPr id="5" name="Text Box 123"/>
          <p:cNvSpPr txBox="1">
            <a:spLocks noChangeArrowheads="1"/>
          </p:cNvSpPr>
          <p:nvPr/>
        </p:nvSpPr>
        <p:spPr bwMode="auto">
          <a:xfrm>
            <a:off x="313386" y="2351339"/>
            <a:ext cx="21945600" cy="171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37137" tIns="137137" rIns="137137" bIns="137137" anchor="ctr" anchorCtr="0"/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40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Ravi Brenner</a:t>
            </a:r>
            <a:endParaRPr lang="en-US" sz="4000" baseline="30000" dirty="0">
              <a:solidFill>
                <a:schemeClr val="accent3">
                  <a:lumMod val="20000"/>
                  <a:lumOff val="80000"/>
                </a:schemeClr>
              </a:solidFill>
              <a:latin typeface="+mn-lt"/>
            </a:endParaRPr>
          </a:p>
          <a:p>
            <a:pPr algn="ctr" eaLnBrk="1" hangingPunct="1"/>
            <a:r>
              <a:rPr lang="en-US" sz="40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Columbia University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415" y="29857829"/>
            <a:ext cx="3037217" cy="222367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68568" tIns="34284" rIns="68568" bIns="34284" rtlCol="0">
            <a:spAutoFit/>
          </a:bodyPr>
          <a:lstStyle/>
          <a:p>
            <a:r>
              <a:rPr lang="en-US" sz="2800" dirty="0"/>
              <a:t>&lt;your name&gt;</a:t>
            </a:r>
          </a:p>
          <a:p>
            <a:r>
              <a:rPr lang="en-US" sz="2800" dirty="0"/>
              <a:t>&lt;your organization&gt;</a:t>
            </a:r>
          </a:p>
          <a:p>
            <a:r>
              <a:rPr lang="en-US" sz="2800" dirty="0"/>
              <a:t>Email:</a:t>
            </a:r>
          </a:p>
          <a:p>
            <a:r>
              <a:rPr lang="en-US" sz="2800" dirty="0"/>
              <a:t>Website:</a:t>
            </a:r>
          </a:p>
          <a:p>
            <a:r>
              <a:rPr lang="en-US" sz="2800" dirty="0"/>
              <a:t>Phone: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275" y="29246151"/>
            <a:ext cx="1937494" cy="746346"/>
          </a:xfrm>
          <a:prstGeom prst="rect">
            <a:avLst/>
          </a:prstGeom>
          <a:noFill/>
        </p:spPr>
        <p:txBody>
          <a:bodyPr wrap="none" lIns="68568" tIns="34284" rIns="68568" bIns="34284" rtlCol="0">
            <a:spAutoFit/>
          </a:bodyPr>
          <a:lstStyle/>
          <a:p>
            <a:r>
              <a:rPr lang="en-US" sz="4400" b="1" dirty="0"/>
              <a:t>Contact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16666" y="29892848"/>
            <a:ext cx="14630400" cy="2194560"/>
          </a:xfrm>
          <a:prstGeom prst="rect">
            <a:avLst/>
          </a:prstGeom>
          <a:noFill/>
        </p:spPr>
        <p:txBody>
          <a:bodyPr wrap="square" lIns="68568" tIns="68568" rIns="68568" bIns="68568" numCol="1" spcCol="342842" rtlCol="0">
            <a:noAutofit/>
          </a:bodyPr>
          <a:lstStyle/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</a:t>
            </a:r>
          </a:p>
          <a:p>
            <a:pPr marL="342842" indent="-342842">
              <a:buFont typeface="+mj-lt"/>
              <a:buAutoNum type="arabicPeriod"/>
            </a:pPr>
            <a:r>
              <a:rPr lang="en-US" sz="1400" dirty="0"/>
              <a:t>  </a:t>
            </a:r>
          </a:p>
          <a:p>
            <a:pPr marL="342842" indent="-342842">
              <a:buFont typeface="+mj-lt"/>
              <a:buAutoNum type="arabicPeriod"/>
            </a:pPr>
            <a:endParaRPr lang="en-US" sz="1400" dirty="0"/>
          </a:p>
        </p:txBody>
      </p:sp>
      <p:sp>
        <p:nvSpPr>
          <p:cNvPr id="27" name="TextBox 26"/>
          <p:cNvSpPr txBox="1"/>
          <p:nvPr/>
        </p:nvSpPr>
        <p:spPr>
          <a:xfrm>
            <a:off x="11270946" y="29138470"/>
            <a:ext cx="2703473" cy="746346"/>
          </a:xfrm>
          <a:prstGeom prst="rect">
            <a:avLst/>
          </a:prstGeom>
          <a:noFill/>
        </p:spPr>
        <p:txBody>
          <a:bodyPr wrap="none" lIns="68568" tIns="34284" rIns="68568" bIns="34284" rtlCol="0">
            <a:spAutoFit/>
          </a:bodyPr>
          <a:lstStyle/>
          <a:p>
            <a:r>
              <a:rPr lang="en-US" sz="4400" b="1" dirty="0"/>
              <a:t>References</a:t>
            </a:r>
          </a:p>
        </p:txBody>
      </p:sp>
      <p:sp>
        <p:nvSpPr>
          <p:cNvPr id="10" name="Text Box 189"/>
          <p:cNvSpPr txBox="1">
            <a:spLocks noChangeArrowheads="1"/>
          </p:cNvSpPr>
          <p:nvPr/>
        </p:nvSpPr>
        <p:spPr bwMode="auto">
          <a:xfrm>
            <a:off x="1140824" y="5655225"/>
            <a:ext cx="9692640" cy="28622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37137" tIns="137137" rIns="137137" bIns="137137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dirty="0">
                <a:latin typeface="Calibri" pitchFamily="34" charset="0"/>
              </a:rPr>
              <a:t>Click here to insert your Abstract text. Type it in or copy and paste from your Word document or other source.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This text box will automatically re-size to your text. To turn off that feature, right click inside this box and go to </a:t>
            </a:r>
            <a:r>
              <a:rPr lang="en-US" sz="2800" b="1" dirty="0">
                <a:latin typeface="Calibri" pitchFamily="34" charset="0"/>
              </a:rPr>
              <a:t>Format Shape, Text Box, Autofit</a:t>
            </a:r>
            <a:r>
              <a:rPr lang="en-US" sz="2800" dirty="0">
                <a:latin typeface="Calibri" pitchFamily="34" charset="0"/>
              </a:rPr>
              <a:t>, and select the “Do Not Autofit” radio button.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0824" y="4996410"/>
            <a:ext cx="9692640" cy="6858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r>
              <a:rPr lang="en-US" sz="44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Abstract/Background</a:t>
            </a:r>
          </a:p>
        </p:txBody>
      </p:sp>
      <p:sp>
        <p:nvSpPr>
          <p:cNvPr id="15" name="Text Box 194"/>
          <p:cNvSpPr txBox="1">
            <a:spLocks noChangeArrowheads="1"/>
          </p:cNvSpPr>
          <p:nvPr/>
        </p:nvSpPr>
        <p:spPr bwMode="auto">
          <a:xfrm>
            <a:off x="11212048" y="5467465"/>
            <a:ext cx="9692640" cy="803292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37137" tIns="137137" rIns="137137" bIns="137137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dirty="0">
                <a:latin typeface="Calibri" pitchFamily="34" charset="0"/>
              </a:rPr>
              <a:t>Click here to insert your Results text. Type it in or copy and paste from your Word document or other source.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This text box will automatically re-size to your text. To turn off that feature, right click inside this box and go to </a:t>
            </a:r>
            <a:r>
              <a:rPr lang="en-US" sz="2800" b="1" dirty="0">
                <a:latin typeface="Calibri" pitchFamily="34" charset="0"/>
              </a:rPr>
              <a:t>Format Shape, Text Box, Autofit</a:t>
            </a:r>
            <a:r>
              <a:rPr lang="en-US" sz="2800" dirty="0">
                <a:latin typeface="Calibri" pitchFamily="34" charset="0"/>
              </a:rPr>
              <a:t>, and select the “Do Not Autofit” radio button.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To change the font style of this text box: Click on the border once to highlight the entire text box, then select a different font or font size that suits you. This text is Calibri 28pt and is easily read up to 4 feet away on a 36x36 poster.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Zoom out to 100% to preview what this will look like on your printed poster.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Speaking of Results, yours will look better if you remember to run a spell-check on your poster! After you’ve added your content click on </a:t>
            </a:r>
            <a:r>
              <a:rPr lang="en-US" sz="2800" b="1" dirty="0">
                <a:latin typeface="Calibri" pitchFamily="34" charset="0"/>
              </a:rPr>
              <a:t>Review</a:t>
            </a:r>
            <a:r>
              <a:rPr lang="en-US" sz="2800" dirty="0">
                <a:latin typeface="Calibri" pitchFamily="34" charset="0"/>
              </a:rPr>
              <a:t>, </a:t>
            </a:r>
            <a:r>
              <a:rPr lang="en-US" sz="2800" b="1" dirty="0">
                <a:latin typeface="Calibri" pitchFamily="34" charset="0"/>
              </a:rPr>
              <a:t>Spelling</a:t>
            </a:r>
            <a:r>
              <a:rPr lang="en-US" sz="2800" dirty="0">
                <a:latin typeface="Calibri" pitchFamily="34" charset="0"/>
              </a:rPr>
              <a:t>, or press F7.</a:t>
            </a:r>
          </a:p>
        </p:txBody>
      </p:sp>
      <p:sp>
        <p:nvSpPr>
          <p:cNvPr id="12" name="Text Box 191"/>
          <p:cNvSpPr txBox="1">
            <a:spLocks noChangeArrowheads="1"/>
          </p:cNvSpPr>
          <p:nvPr/>
        </p:nvSpPr>
        <p:spPr bwMode="auto">
          <a:xfrm>
            <a:off x="11316666" y="13341371"/>
            <a:ext cx="9692640" cy="6309373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37137" tIns="137137" rIns="137137" bIns="137137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dirty="0">
                <a:latin typeface="Calibri" pitchFamily="34" charset="0"/>
              </a:rPr>
              <a:t>Click here to insert your Discussion text. Type it in or copy and paste from your Word document or other source.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This text box will automatically re-size to your text. To turn off that feature, right click inside this box and go to </a:t>
            </a:r>
            <a:r>
              <a:rPr lang="en-US" sz="2800" b="1" dirty="0">
                <a:latin typeface="Calibri" pitchFamily="34" charset="0"/>
              </a:rPr>
              <a:t>Format Shape, Text Box, Autofit</a:t>
            </a:r>
            <a:r>
              <a:rPr lang="en-US" sz="2800" dirty="0">
                <a:latin typeface="Calibri" pitchFamily="34" charset="0"/>
              </a:rPr>
              <a:t>, and select the “Do Not Autofit” radio button.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To change the font style of this text box: Click on the border once to highlight the entire text box, then select a different font or font size that suits you. This text is Calibri 28pt and is easily read up to 4 feet away on a 36x36 poster.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Zoom out to 100% to preview what this will look like on your printed poster.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316666" y="12669072"/>
            <a:ext cx="9692640" cy="6858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r>
              <a:rPr lang="en-US" sz="44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Additional methods/Results</a:t>
            </a:r>
          </a:p>
        </p:txBody>
      </p:sp>
      <p:sp>
        <p:nvSpPr>
          <p:cNvPr id="14" name="Text Box 193"/>
          <p:cNvSpPr txBox="1">
            <a:spLocks noChangeArrowheads="1"/>
          </p:cNvSpPr>
          <p:nvPr/>
        </p:nvSpPr>
        <p:spPr bwMode="auto">
          <a:xfrm>
            <a:off x="11316666" y="21171501"/>
            <a:ext cx="9692640" cy="6309373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37137" tIns="137137" rIns="137137" bIns="137137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dirty="0">
                <a:latin typeface="Calibri" pitchFamily="34" charset="0"/>
              </a:rPr>
              <a:t>Click here to insert your Conclusions text. Type it in or copy and paste from your Word document or other source.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This text box will automatically re-size to your text. To turn off that feature, right click inside this box and go to </a:t>
            </a:r>
            <a:r>
              <a:rPr lang="en-US" sz="2800" b="1" dirty="0">
                <a:latin typeface="Calibri" pitchFamily="34" charset="0"/>
              </a:rPr>
              <a:t>Format Shape, Text Box, Autofit</a:t>
            </a:r>
            <a:r>
              <a:rPr lang="en-US" sz="2800" dirty="0">
                <a:latin typeface="Calibri" pitchFamily="34" charset="0"/>
              </a:rPr>
              <a:t>, and select the “Do Not Autofit” radio button.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To change the font style of this text box: Click on the border once to highlight the entire text box, then select a different font or font size that suits you. This text is Calibri 28pt and is easily read up to 4 feet away on a 36x36 poster.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  <a:p>
            <a:pPr eaLnBrk="1" hangingPunct="1"/>
            <a:r>
              <a:rPr lang="en-US" sz="2800" dirty="0">
                <a:latin typeface="Calibri" pitchFamily="34" charset="0"/>
              </a:rPr>
              <a:t>Zoom out to 100% to preview what this will look like on your printed poster.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301426" y="20485701"/>
            <a:ext cx="9692640" cy="6858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r>
              <a:rPr lang="en-US" sz="44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Discussion/Conclusions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39926" y="4976816"/>
            <a:ext cx="9692640" cy="6858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8568" tIns="34284" rIns="68568" bIns="34284" rtlCol="0" anchor="ctr"/>
          <a:lstStyle/>
          <a:p>
            <a:pPr algn="ctr"/>
            <a:r>
              <a:rPr lang="en-US" sz="44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Methods </a:t>
            </a:r>
          </a:p>
        </p:txBody>
      </p:sp>
      <p:sp>
        <p:nvSpPr>
          <p:cNvPr id="53" name="Text Box 180"/>
          <p:cNvSpPr txBox="1">
            <a:spLocks noChangeArrowheads="1"/>
          </p:cNvSpPr>
          <p:nvPr/>
        </p:nvSpPr>
        <p:spPr bwMode="auto">
          <a:xfrm>
            <a:off x="1423301" y="28099332"/>
            <a:ext cx="3736641" cy="4385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8568" tIns="34284" rIns="68568" bIns="34284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2400" b="1" dirty="0">
                <a:latin typeface="Calibri" pitchFamily="34" charset="0"/>
              </a:rPr>
              <a:t>Table 1.</a:t>
            </a:r>
            <a:r>
              <a:rPr lang="en-US" sz="2400" dirty="0">
                <a:latin typeface="Calibri" pitchFamily="34" charset="0"/>
              </a:rPr>
              <a:t> Label in 24pt Calibri.</a:t>
            </a:r>
          </a:p>
        </p:txBody>
      </p:sp>
      <p:sp>
        <p:nvSpPr>
          <p:cNvPr id="37" name="Text Box 180"/>
          <p:cNvSpPr txBox="1">
            <a:spLocks noChangeArrowheads="1"/>
          </p:cNvSpPr>
          <p:nvPr/>
        </p:nvSpPr>
        <p:spPr bwMode="auto">
          <a:xfrm>
            <a:off x="14324695" y="11722387"/>
            <a:ext cx="3646103" cy="4385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8568" tIns="34284" rIns="68568" bIns="34284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2400" b="1" dirty="0">
                <a:latin typeface="Calibri" pitchFamily="34" charset="0"/>
              </a:rPr>
              <a:t>Map 1.</a:t>
            </a:r>
            <a:r>
              <a:rPr lang="en-US" sz="2400" dirty="0">
                <a:latin typeface="Calibri" pitchFamily="34" charset="0"/>
              </a:rPr>
              <a:t> Label in 24pt Calibri.</a:t>
            </a:r>
          </a:p>
        </p:txBody>
      </p:sp>
      <p:sp>
        <p:nvSpPr>
          <p:cNvPr id="2" name="Text Box 180">
            <a:extLst>
              <a:ext uri="{FF2B5EF4-FFF2-40B4-BE49-F238E27FC236}">
                <a16:creationId xmlns:a16="http://schemas.microsoft.com/office/drawing/2014/main" id="{8DE6EEC0-E474-AA25-F16C-74DB86D6E6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2269" y="25495712"/>
            <a:ext cx="3736641" cy="4385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68568" tIns="34284" rIns="68568" bIns="34284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2400" b="1" dirty="0">
                <a:latin typeface="Calibri" pitchFamily="34" charset="0"/>
              </a:rPr>
              <a:t>Table 1.</a:t>
            </a:r>
            <a:r>
              <a:rPr lang="en-US" sz="2400" dirty="0">
                <a:latin typeface="Calibri" pitchFamily="34" charset="0"/>
              </a:rPr>
              <a:t> Label in 24pt Calibri.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754ED30E-9DDB-42D3-D0D3-FBE00BC6F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990765"/>
              </p:ext>
            </p:extLst>
          </p:nvPr>
        </p:nvGraphicFramePr>
        <p:xfrm>
          <a:off x="1423301" y="26099818"/>
          <a:ext cx="5891898" cy="1866900"/>
        </p:xfrm>
        <a:graphic>
          <a:graphicData uri="http://schemas.openxmlformats.org/drawingml/2006/table">
            <a:tbl>
              <a:tblPr firstRow="1">
                <a:tableStyleId>{6E25E649-3F16-4E02-A733-19D2CDBF48F0}</a:tableStyleId>
              </a:tblPr>
              <a:tblGrid>
                <a:gridCol w="1790555">
                  <a:extLst>
                    <a:ext uri="{9D8B030D-6E8A-4147-A177-3AD203B41FA5}">
                      <a16:colId xmlns:a16="http://schemas.microsoft.com/office/drawing/2014/main" val="618651207"/>
                    </a:ext>
                  </a:extLst>
                </a:gridCol>
                <a:gridCol w="1510544">
                  <a:extLst>
                    <a:ext uri="{9D8B030D-6E8A-4147-A177-3AD203B41FA5}">
                      <a16:colId xmlns:a16="http://schemas.microsoft.com/office/drawing/2014/main" val="1064282208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1618239273"/>
                    </a:ext>
                  </a:extLst>
                </a:gridCol>
                <a:gridCol w="1600199">
                  <a:extLst>
                    <a:ext uri="{9D8B030D-6E8A-4147-A177-3AD203B41FA5}">
                      <a16:colId xmlns:a16="http://schemas.microsoft.com/office/drawing/2014/main" val="3829869367"/>
                    </a:ext>
                  </a:extLst>
                </a:gridCol>
              </a:tblGrid>
              <a:tr h="73187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Bike Lane Type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Number of Collisions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Length (Miles)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Crashes per Mile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568146"/>
                  </a:ext>
                </a:extLst>
              </a:tr>
              <a:tr h="37063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Protected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3090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430.3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7.18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7474695"/>
                  </a:ext>
                </a:extLst>
              </a:tr>
              <a:tr h="37063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Conventional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3170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447.5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7.08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5864237"/>
                  </a:ext>
                </a:extLst>
              </a:tr>
              <a:tr h="37063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400" u="none" strike="noStrike">
                          <a:effectLst/>
                        </a:rPr>
                        <a:t>Shared Lane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1445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180.5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u="none" strike="noStrike" dirty="0">
                          <a:effectLst/>
                        </a:rPr>
                        <a:t>8.01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7246646"/>
                  </a:ext>
                </a:extLst>
              </a:tr>
            </a:tbl>
          </a:graphicData>
        </a:graphic>
      </p:graphicFrame>
      <p:pic>
        <p:nvPicPr>
          <p:cNvPr id="19" name="Picture 18" descr="A graph of a bicycle lane&#10;&#10;AI-generated content may be incorrect.">
            <a:extLst>
              <a:ext uri="{FF2B5EF4-FFF2-40B4-BE49-F238E27FC236}">
                <a16:creationId xmlns:a16="http://schemas.microsoft.com/office/drawing/2014/main" id="{D79AC920-7F12-1ABA-9801-826C8C285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620" y="19573021"/>
            <a:ext cx="9925048" cy="4962524"/>
          </a:xfrm>
          <a:prstGeom prst="rect">
            <a:avLst/>
          </a:prstGeom>
        </p:spPr>
      </p:pic>
      <p:pic>
        <p:nvPicPr>
          <p:cNvPr id="23" name="Picture 22" descr="A map of a city with different colored circles&#10;&#10;AI-generated content may be incorrect.">
            <a:extLst>
              <a:ext uri="{FF2B5EF4-FFF2-40B4-BE49-F238E27FC236}">
                <a16:creationId xmlns:a16="http://schemas.microsoft.com/office/drawing/2014/main" id="{2D1421E0-CF88-CEE0-57D3-6EA5F2AF4E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7110"/>
          <a:stretch>
            <a:fillRect/>
          </a:stretch>
        </p:blipFill>
        <p:spPr>
          <a:xfrm>
            <a:off x="1293540" y="9001646"/>
            <a:ext cx="9679260" cy="10210800"/>
          </a:xfrm>
          <a:prstGeom prst="rect">
            <a:avLst/>
          </a:prstGeom>
        </p:spPr>
      </p:pic>
      <p:pic>
        <p:nvPicPr>
          <p:cNvPr id="39" name="Picture 38" descr="A map of the united states&#10;&#10;AI-generated content may be incorrect.">
            <a:extLst>
              <a:ext uri="{FF2B5EF4-FFF2-40B4-BE49-F238E27FC236}">
                <a16:creationId xmlns:a16="http://schemas.microsoft.com/office/drawing/2014/main" id="{63DE17D0-CB84-B4D9-2B8F-CD2CD5AE76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1873" y="19087524"/>
            <a:ext cx="11831746" cy="9859788"/>
          </a:xfrm>
          <a:prstGeom prst="rect">
            <a:avLst/>
          </a:prstGeom>
        </p:spPr>
      </p:pic>
      <p:pic>
        <p:nvPicPr>
          <p:cNvPr id="41" name="Picture 40" descr="A map of the united states&#10;&#10;AI-generated content may be incorrect.">
            <a:extLst>
              <a:ext uri="{FF2B5EF4-FFF2-40B4-BE49-F238E27FC236}">
                <a16:creationId xmlns:a16="http://schemas.microsoft.com/office/drawing/2014/main" id="{B11BE36D-3BA8-FB7D-67B5-E5A2EE80FC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0946" y="8829532"/>
            <a:ext cx="10000680" cy="1000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817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2845</TotalTime>
  <Words>613</Words>
  <Application>Microsoft Macintosh PowerPoint</Application>
  <PresentationFormat>Custom</PresentationFormat>
  <Paragraphs>69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>Genigraphics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Genigraphics Research Poster Template 36x36</dc:title>
  <dc:creator>Jay Larson</dc:creator>
  <dc:description>Quality poster printing
www.genigraphics.com
1-800-790-4001</dc:description>
  <cp:lastModifiedBy>Brenner, Ravi</cp:lastModifiedBy>
  <cp:revision>84</cp:revision>
  <cp:lastPrinted>2013-02-12T02:21:55Z</cp:lastPrinted>
  <dcterms:created xsi:type="dcterms:W3CDTF">2013-02-10T21:14:48Z</dcterms:created>
  <dcterms:modified xsi:type="dcterms:W3CDTF">2025-11-16T23:43:35Z</dcterms:modified>
</cp:coreProperties>
</file>